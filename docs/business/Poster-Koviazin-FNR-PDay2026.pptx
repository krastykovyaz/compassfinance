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57" r:id="rId5"/>
  </p:sldIdLst>
  <p:sldSz cx="30275213" cy="42803763"/>
  <p:notesSz cx="142240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6132" userDrawn="1">
          <p15:clr>
            <a:srgbClr val="A4A3A4"/>
          </p15:clr>
        </p15:guide>
        <p15:guide id="2" pos="7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3D5E"/>
    <a:srgbClr val="572A79"/>
    <a:srgbClr val="4DC0E3"/>
    <a:srgbClr val="481F62"/>
    <a:srgbClr val="662D91"/>
    <a:srgbClr val="24253F"/>
    <a:srgbClr val="EE4266"/>
    <a:srgbClr val="F4D6D3"/>
    <a:srgbClr val="555DFC"/>
    <a:srgbClr val="5C34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3D745-8D7D-A048-A008-F57C71C2FCBF}" v="1" dt="2025-03-24T13:17:40.448"/>
    <p1510:client id="{B6CD2091-96E2-BAC0-322C-1B00878DA424}" v="4" dt="2025-03-24T14:04:53.036"/>
    <p1510:client id="{CCFD8817-9841-AD4D-9427-BBD56CBE5331}" v="3" dt="2025-03-24T14:40:31.48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1"/>
  </p:normalViewPr>
  <p:slideViewPr>
    <p:cSldViewPr snapToGrid="0">
      <p:cViewPr>
        <p:scale>
          <a:sx n="45" d="100"/>
          <a:sy n="45" d="100"/>
        </p:scale>
        <p:origin x="-112" y="144"/>
      </p:cViewPr>
      <p:guideLst>
        <p:guide orient="horz" pos="6132"/>
        <p:guide pos="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64263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056563" y="0"/>
            <a:ext cx="6164262" cy="1008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8AC0C-DC10-484F-95C4-2EDF14F136D3}" type="datetimeFigureOut">
              <a:rPr lang="en-LU" smtClean="0"/>
              <a:t>3/25/26</a:t>
            </a:fld>
            <a:endParaRPr lang="en-L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11700" y="2513013"/>
            <a:ext cx="4800600" cy="6784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22400" y="9675813"/>
            <a:ext cx="11379200" cy="791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9096038"/>
            <a:ext cx="6164263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056563" y="19096038"/>
            <a:ext cx="6164262" cy="10080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C2104-2BC7-5345-BD84-FAF853B7E3E0}" type="slidenum">
              <a:rPr lang="en-LU" smtClean="0"/>
              <a:t>‹#›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4287591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C2104-2BC7-5345-BD84-FAF853B7E3E0}" type="slidenum">
              <a:rPr lang="en-LU" smtClean="0"/>
              <a:t>1</a:t>
            </a:fld>
            <a:endParaRPr lang="en-LU"/>
          </a:p>
        </p:txBody>
      </p:sp>
    </p:spTree>
    <p:extLst>
      <p:ext uri="{BB962C8B-B14F-4D97-AF65-F5344CB8AC3E}">
        <p14:creationId xmlns:p14="http://schemas.microsoft.com/office/powerpoint/2010/main" val="2181380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29AB9B9-9418-5EB6-378D-0DDB846795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0606" y="803036"/>
            <a:ext cx="16177272" cy="2133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LU" sz="12100" b="1" i="0" dirty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LU" dirty="0"/>
              <a:t>This is your demo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104B7BF-C502-F482-5265-1567416199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37" t="17650" r="16798" b="11749"/>
          <a:stretch/>
        </p:blipFill>
        <p:spPr>
          <a:xfrm>
            <a:off x="23824803" y="1107836"/>
            <a:ext cx="4724401" cy="1524000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E33B5D3-3D38-5FBD-716C-C5DD8FF838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9812" y="3424237"/>
            <a:ext cx="20498594" cy="2737643"/>
          </a:xfrm>
          <a:prstGeom prst="rect">
            <a:avLst/>
          </a:prstGeom>
        </p:spPr>
        <p:txBody>
          <a:bodyPr/>
          <a:lstStyle>
            <a:lvl1pPr>
              <a:defRPr sz="51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GB"/>
              <a:t>First name Last name, First name Last Name, (if space demands, abbreviate </a:t>
            </a:r>
            <a:r>
              <a:rPr lang="en-GB" err="1"/>
              <a:t>mes</a:t>
            </a:r>
            <a:r>
              <a:rPr lang="en-GB"/>
              <a:t>.)</a:t>
            </a:r>
          </a:p>
          <a:p>
            <a:pPr lvl="0"/>
            <a:r>
              <a:rPr lang="en-GB"/>
              <a:t>If list of authors contains anyone not from SnT, please specify their institution.</a:t>
            </a:r>
            <a:endParaRPr lang="en-LU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71A647A-FA0E-0F3B-3534-FA98F7934F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986206" y="3424237"/>
            <a:ext cx="6401594" cy="2284013"/>
          </a:xfrm>
          <a:prstGeom prst="rect">
            <a:avLst/>
          </a:prstGeom>
        </p:spPr>
        <p:txBody>
          <a:bodyPr/>
          <a:lstStyle>
            <a:lvl1pPr algn="ctr">
              <a:defRPr sz="51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defRPr sz="2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GB"/>
              <a:t>Name of Research Group</a:t>
            </a:r>
            <a:endParaRPr lang="en-L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973150">
        <a:defRPr>
          <a:latin typeface="+mn-lt"/>
          <a:ea typeface="+mn-ea"/>
          <a:cs typeface="+mn-cs"/>
        </a:defRPr>
      </a:lvl2pPr>
      <a:lvl3pPr marL="1946300">
        <a:defRPr>
          <a:latin typeface="+mn-lt"/>
          <a:ea typeface="+mn-ea"/>
          <a:cs typeface="+mn-cs"/>
        </a:defRPr>
      </a:lvl3pPr>
      <a:lvl4pPr marL="2919451">
        <a:defRPr>
          <a:latin typeface="+mn-lt"/>
          <a:ea typeface="+mn-ea"/>
          <a:cs typeface="+mn-cs"/>
        </a:defRPr>
      </a:lvl4pPr>
      <a:lvl5pPr marL="3892601">
        <a:defRPr>
          <a:latin typeface="+mn-lt"/>
          <a:ea typeface="+mn-ea"/>
          <a:cs typeface="+mn-cs"/>
        </a:defRPr>
      </a:lvl5pPr>
      <a:lvl6pPr marL="4865751">
        <a:defRPr>
          <a:latin typeface="+mn-lt"/>
          <a:ea typeface="+mn-ea"/>
          <a:cs typeface="+mn-cs"/>
        </a:defRPr>
      </a:lvl6pPr>
      <a:lvl7pPr marL="5838901">
        <a:defRPr>
          <a:latin typeface="+mn-lt"/>
          <a:ea typeface="+mn-ea"/>
          <a:cs typeface="+mn-cs"/>
        </a:defRPr>
      </a:lvl7pPr>
      <a:lvl8pPr marL="6812051">
        <a:defRPr>
          <a:latin typeface="+mn-lt"/>
          <a:ea typeface="+mn-ea"/>
          <a:cs typeface="+mn-cs"/>
        </a:defRPr>
      </a:lvl8pPr>
      <a:lvl9pPr marL="778520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973150">
        <a:defRPr>
          <a:latin typeface="+mn-lt"/>
          <a:ea typeface="+mn-ea"/>
          <a:cs typeface="+mn-cs"/>
        </a:defRPr>
      </a:lvl2pPr>
      <a:lvl3pPr marL="1946300">
        <a:defRPr>
          <a:latin typeface="+mn-lt"/>
          <a:ea typeface="+mn-ea"/>
          <a:cs typeface="+mn-cs"/>
        </a:defRPr>
      </a:lvl3pPr>
      <a:lvl4pPr marL="2919451">
        <a:defRPr>
          <a:latin typeface="+mn-lt"/>
          <a:ea typeface="+mn-ea"/>
          <a:cs typeface="+mn-cs"/>
        </a:defRPr>
      </a:lvl4pPr>
      <a:lvl5pPr marL="3892601">
        <a:defRPr>
          <a:latin typeface="+mn-lt"/>
          <a:ea typeface="+mn-ea"/>
          <a:cs typeface="+mn-cs"/>
        </a:defRPr>
      </a:lvl5pPr>
      <a:lvl6pPr marL="4865751">
        <a:defRPr>
          <a:latin typeface="+mn-lt"/>
          <a:ea typeface="+mn-ea"/>
          <a:cs typeface="+mn-cs"/>
        </a:defRPr>
      </a:lvl6pPr>
      <a:lvl7pPr marL="5838901">
        <a:defRPr>
          <a:latin typeface="+mn-lt"/>
          <a:ea typeface="+mn-ea"/>
          <a:cs typeface="+mn-cs"/>
        </a:defRPr>
      </a:lvl7pPr>
      <a:lvl8pPr marL="6812051">
        <a:defRPr>
          <a:latin typeface="+mn-lt"/>
          <a:ea typeface="+mn-ea"/>
          <a:cs typeface="+mn-cs"/>
        </a:defRPr>
      </a:lvl8pPr>
      <a:lvl9pPr marL="778520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56323C-3536-4A41-66ED-280FE5CE1683}"/>
              </a:ext>
            </a:extLst>
          </p:cNvPr>
          <p:cNvSpPr/>
          <p:nvPr/>
        </p:nvSpPr>
        <p:spPr>
          <a:xfrm>
            <a:off x="20428284" y="25700962"/>
            <a:ext cx="8837136" cy="101566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6000" b="1" dirty="0"/>
              <a:t>Convergence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B5416E-DAE7-461A-4EA9-E74E3CEE2CEA}"/>
              </a:ext>
            </a:extLst>
          </p:cNvPr>
          <p:cNvCxnSpPr>
            <a:cxnSpLocks/>
          </p:cNvCxnSpPr>
          <p:nvPr/>
        </p:nvCxnSpPr>
        <p:spPr>
          <a:xfrm>
            <a:off x="20494457" y="26788157"/>
            <a:ext cx="851154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1C9CFA-BCF6-E572-CFBC-2552E5B6C4C0}"/>
              </a:ext>
            </a:extLst>
          </p:cNvPr>
          <p:cNvCxnSpPr>
            <a:cxnSpLocks/>
          </p:cNvCxnSpPr>
          <p:nvPr/>
        </p:nvCxnSpPr>
        <p:spPr>
          <a:xfrm>
            <a:off x="10920759" y="26788157"/>
            <a:ext cx="88843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1DE9395-D6D7-11D8-C4F8-D7F05A0CC0EB}"/>
              </a:ext>
            </a:extLst>
          </p:cNvPr>
          <p:cNvCxnSpPr>
            <a:cxnSpLocks/>
          </p:cNvCxnSpPr>
          <p:nvPr/>
        </p:nvCxnSpPr>
        <p:spPr>
          <a:xfrm>
            <a:off x="1207905" y="26788157"/>
            <a:ext cx="888432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D2286D-CF83-FF8A-3390-733AE9EEFEA4}"/>
              </a:ext>
            </a:extLst>
          </p:cNvPr>
          <p:cNvCxnSpPr>
            <a:cxnSpLocks/>
          </p:cNvCxnSpPr>
          <p:nvPr/>
        </p:nvCxnSpPr>
        <p:spPr>
          <a:xfrm>
            <a:off x="1133482" y="7321681"/>
            <a:ext cx="1351131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Doughnut 10">
            <a:extLst>
              <a:ext uri="{FF2B5EF4-FFF2-40B4-BE49-F238E27FC236}">
                <a16:creationId xmlns:a16="http://schemas.microsoft.com/office/drawing/2014/main" id="{1A36B231-F650-34C9-F324-26D6723D189B}"/>
              </a:ext>
            </a:extLst>
          </p:cNvPr>
          <p:cNvSpPr/>
          <p:nvPr/>
        </p:nvSpPr>
        <p:spPr>
          <a:xfrm>
            <a:off x="10417268" y="20676102"/>
            <a:ext cx="3827359" cy="3827359"/>
          </a:xfrm>
          <a:prstGeom prst="donut">
            <a:avLst>
              <a:gd name="adj" fmla="val 30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sz="25373">
              <a:solidFill>
                <a:schemeClr val="tx1"/>
              </a:solidFill>
            </a:endParaRPr>
          </a:p>
        </p:txBody>
      </p:sp>
      <p:sp>
        <p:nvSpPr>
          <p:cNvPr id="19" name="Doughnut 9">
            <a:extLst>
              <a:ext uri="{FF2B5EF4-FFF2-40B4-BE49-F238E27FC236}">
                <a16:creationId xmlns:a16="http://schemas.microsoft.com/office/drawing/2014/main" id="{591ACA05-5F9F-09A9-2A39-D05A63055913}"/>
              </a:ext>
            </a:extLst>
          </p:cNvPr>
          <p:cNvSpPr/>
          <p:nvPr/>
        </p:nvSpPr>
        <p:spPr>
          <a:xfrm>
            <a:off x="5764309" y="20655522"/>
            <a:ext cx="3827359" cy="3827359"/>
          </a:xfrm>
          <a:prstGeom prst="donut">
            <a:avLst>
              <a:gd name="adj" fmla="val 30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sz="25373">
              <a:solidFill>
                <a:schemeClr val="tx1"/>
              </a:solidFill>
            </a:endParaRPr>
          </a:p>
        </p:txBody>
      </p:sp>
      <p:sp>
        <p:nvSpPr>
          <p:cNvPr id="20" name="Doughnut 5">
            <a:extLst>
              <a:ext uri="{FF2B5EF4-FFF2-40B4-BE49-F238E27FC236}">
                <a16:creationId xmlns:a16="http://schemas.microsoft.com/office/drawing/2014/main" id="{55296BFE-97BD-536A-169B-6629B27543F0}"/>
              </a:ext>
            </a:extLst>
          </p:cNvPr>
          <p:cNvSpPr/>
          <p:nvPr/>
        </p:nvSpPr>
        <p:spPr>
          <a:xfrm>
            <a:off x="1175468" y="20673541"/>
            <a:ext cx="3827359" cy="3827359"/>
          </a:xfrm>
          <a:prstGeom prst="donut">
            <a:avLst>
              <a:gd name="adj" fmla="val 298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sz="25373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3EA556-8DD1-1E88-E7EF-C2CD2FB03889}"/>
              </a:ext>
            </a:extLst>
          </p:cNvPr>
          <p:cNvSpPr/>
          <p:nvPr/>
        </p:nvSpPr>
        <p:spPr>
          <a:xfrm>
            <a:off x="20428284" y="27274651"/>
            <a:ext cx="8776949" cy="5874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GB" sz="4321" noProof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Shaping increases gap</a:t>
            </a:r>
          </a:p>
          <a:p>
            <a:pPr>
              <a:lnSpc>
                <a:spcPct val="125000"/>
              </a:lnSpc>
            </a:pPr>
            <a:r>
              <a:rPr lang="en-GB" sz="4321" noProof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noise is limited</a:t>
            </a:r>
          </a:p>
          <a:p>
            <a:pPr>
              <a:lnSpc>
                <a:spcPct val="125000"/>
              </a:lnSpc>
            </a:pPr>
            <a:r>
              <a:rPr lang="en-GB" sz="4321" noProof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SNR increases</a:t>
            </a:r>
          </a:p>
          <a:p>
            <a:pPr>
              <a:lnSpc>
                <a:spcPct val="125000"/>
              </a:lnSpc>
            </a:pPr>
            <a:r>
              <a:rPr lang="en-US" sz="4400" dirty="0"/>
              <a:t>For </a:t>
            </a:r>
            <a:r>
              <a:rPr lang="el-GR" sz="4400" dirty="0"/>
              <a:t>α ≥ 2, </a:t>
            </a:r>
            <a:r>
              <a:rPr lang="en-US" sz="4400" dirty="0"/>
              <a:t>shaping improves signal-to-noise ratio and accelerates learning.</a:t>
            </a:r>
          </a:p>
          <a:p>
            <a:pPr>
              <a:lnSpc>
                <a:spcPct val="125000"/>
              </a:lnSpc>
            </a:pPr>
            <a:endParaRPr lang="en-GB" sz="4321" noProof="0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E2D452-C9D7-B200-AEB8-25FB926930CD}"/>
              </a:ext>
            </a:extLst>
          </p:cNvPr>
          <p:cNvSpPr/>
          <p:nvPr/>
        </p:nvSpPr>
        <p:spPr>
          <a:xfrm>
            <a:off x="10802499" y="25730425"/>
            <a:ext cx="8912672" cy="95673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5600" b="1" dirty="0">
                <a:solidFill>
                  <a:schemeClr val="tx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Main result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D807A6-CA98-3C6C-3122-AD8C2401689E}"/>
              </a:ext>
            </a:extLst>
          </p:cNvPr>
          <p:cNvSpPr/>
          <p:nvPr/>
        </p:nvSpPr>
        <p:spPr>
          <a:xfrm>
            <a:off x="10360118" y="28563703"/>
            <a:ext cx="982787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l-GR" sz="4400" dirty="0"/>
              <a:t>↑ α </a:t>
            </a:r>
            <a:r>
              <a:rPr lang="en-US" sz="4400" dirty="0"/>
              <a:t>-</a:t>
            </a:r>
            <a:r>
              <a:rPr lang="el-GR" sz="4400" dirty="0"/>
              <a:t> </a:t>
            </a:r>
            <a:r>
              <a:rPr lang="en-US" sz="4400" dirty="0"/>
              <a:t>need more accurate</a:t>
            </a:r>
            <a:r>
              <a:rPr lang="ru-RU" sz="4400" dirty="0"/>
              <a:t> </a:t>
            </a:r>
            <a:r>
              <a:rPr lang="en-US" sz="4400" dirty="0"/>
              <a:t>LLM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l-GR" sz="4400" dirty="0"/>
              <a:t>↑ Δ*</a:t>
            </a:r>
            <a:r>
              <a:rPr lang="en-US" sz="4400" dirty="0"/>
              <a:t> -</a:t>
            </a:r>
            <a:r>
              <a:rPr lang="el-GR" sz="4400" dirty="0"/>
              <a:t> </a:t>
            </a:r>
            <a:r>
              <a:rPr lang="en-US" sz="4400" dirty="0"/>
              <a:t>a less precise LLM is possible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792C4A1-FFF3-35A7-4D96-1A362B19F9A2}"/>
              </a:ext>
            </a:extLst>
          </p:cNvPr>
          <p:cNvSpPr/>
          <p:nvPr/>
        </p:nvSpPr>
        <p:spPr>
          <a:xfrm>
            <a:off x="1116806" y="25695549"/>
            <a:ext cx="8912672" cy="101566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6000" b="1" dirty="0"/>
              <a:t>Theory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9BEB76-E279-0EDB-E27D-6E2AA7E7FA84}"/>
              </a:ext>
            </a:extLst>
          </p:cNvPr>
          <p:cNvSpPr/>
          <p:nvPr/>
        </p:nvSpPr>
        <p:spPr>
          <a:xfrm>
            <a:off x="1174548" y="27313337"/>
            <a:ext cx="891267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LLM-shaping is not PBRS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4321" noProof="0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</a:t>
            </a:r>
            <a:r>
              <a:rPr lang="en-US" sz="4400" dirty="0"/>
              <a:t>policy invariance </a:t>
            </a:r>
            <a:r>
              <a:rPr lang="el-GR" sz="4400" dirty="0"/>
              <a:t>ε(</a:t>
            </a:r>
            <a:r>
              <a:rPr lang="en-US" sz="4400" dirty="0"/>
              <a:t>p)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Introduction to optimality gap </a:t>
            </a:r>
            <a:r>
              <a:rPr lang="el-GR" sz="4400" dirty="0"/>
              <a:t>Δ*</a:t>
            </a:r>
            <a:endParaRPr lang="en-US" sz="4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EACC301-0D36-31E9-1F38-5902EF2CCA00}"/>
              </a:ext>
            </a:extLst>
          </p:cNvPr>
          <p:cNvSpPr txBox="1"/>
          <p:nvPr/>
        </p:nvSpPr>
        <p:spPr>
          <a:xfrm>
            <a:off x="15695789" y="19048825"/>
            <a:ext cx="13276344" cy="4125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  <a:defRPr/>
            </a:pPr>
            <a:r>
              <a:rPr lang="en-US" sz="4200" dirty="0"/>
              <a:t>LLM-based shaping preserves the optimal policy </a:t>
            </a:r>
            <a:r>
              <a:rPr lang="en-US" sz="4200" b="1" dirty="0"/>
              <a:t>if and only if</a:t>
            </a:r>
            <a:r>
              <a:rPr lang="en-US" sz="4200" dirty="0"/>
              <a:t> the advisor accuracy exceeds a critical threshold p*.</a:t>
            </a:r>
          </a:p>
          <a:p>
            <a:pPr algn="just">
              <a:lnSpc>
                <a:spcPct val="125000"/>
              </a:lnSpc>
              <a:defRPr/>
            </a:pPr>
            <a:r>
              <a:rPr lang="en-US" sz="4400" dirty="0"/>
              <a:t>The threshold depends on reward scale, shaping strength, and optimality gap.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C09CAC-1608-CC74-25C3-0E1F4696A98F}"/>
              </a:ext>
            </a:extLst>
          </p:cNvPr>
          <p:cNvSpPr/>
          <p:nvPr/>
        </p:nvSpPr>
        <p:spPr>
          <a:xfrm>
            <a:off x="1116806" y="6238825"/>
            <a:ext cx="8912672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5400" b="1" dirty="0">
                <a:solidFill>
                  <a:schemeClr val="tx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Problem: LLM Shaping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17E25D3-4617-42E4-1FF4-4323BBA2D328}"/>
                  </a:ext>
                </a:extLst>
              </p:cNvPr>
              <p:cNvSpPr/>
              <p:nvPr/>
            </p:nvSpPr>
            <p:spPr>
              <a:xfrm>
                <a:off x="1070768" y="7353446"/>
                <a:ext cx="13688411" cy="121448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LLMs are used as "advisors" (e.g., financial news)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They change rewards (reward shaping)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Problem: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This is NOT potential-based shaping → there is no guarantee of policy preservation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Key point: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 study when LLM-based reward shaping preserves the optimal policy and derives an explicit accuracy threshold.</a:t>
                </a:r>
                <a:b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sz="3500" b="1" noProof="0" dirty="0">
                    <a:solidFill>
                      <a:srgbClr val="333333"/>
                    </a:solidFill>
                    <a:latin typeface="Arial Narrow" panose="020B0604020202020204" pitchFamily="34" charset="0"/>
                    <a:cs typeface="Arial Narrow" panose="020B0604020202020204" pitchFamily="34" charset="0"/>
                  </a:rPr>
                  <a:t>Contributions</a:t>
                </a:r>
                <a:endParaRPr lang="en-GB" sz="3500" b="1" noProof="0" dirty="0">
                  <a:latin typeface="Arial Narrow" panose="020B0604020202020204" pitchFamily="34" charset="0"/>
                  <a:cs typeface="Arial Narrow" panose="020B060402020202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 T. 1: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:=</m:t>
                        </m:r>
                        <m:r>
                          <m:rPr>
                            <m:nor/>
                          </m:rPr>
                          <a:rPr lang="en-GB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1 </m:t>
                        </m:r>
                        <m:r>
                          <a:rPr lang="en-GB" sz="3500" i="1" noProof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GB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500" b="0" i="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sz="3500" noProof="0" dirty="0" smtClean="0">
                                <a:solidFill>
                                  <a:srgbClr val="333333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l-GR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(1</m:t>
                        </m:r>
                        <m:r>
                          <m:rPr>
                            <m:nor/>
                          </m:rPr>
                          <a:rPr lang="en-US" sz="3500" b="0" i="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sz="3500" b="0" i="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3600" i="1" noProof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  <m:r>
                          <m:rPr>
                            <m:nor/>
                          </m:rPr>
                          <a:rPr lang="el-GR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</m:den>
                    </m:f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3500" b="0" noProof="0" dirty="0">
                    <a:solidFill>
                      <a:srgbClr val="333333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l-GR" sz="35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p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∗, </m:t>
                        </m:r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sup>
                    </m:sSup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l-GR" sz="350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𝜋</m:t>
                        </m:r>
                      </m:e>
                      <m:sup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514350" indent="-514350">
                  <a:lnSpc>
                    <a:spcPct val="125000"/>
                  </a:lnSpc>
                  <a:buFontTx/>
                  <a:buAutoNum type="arabicPeriod"/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T. 2: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:=</m:t>
                        </m:r>
                        <m:r>
                          <m:rPr>
                            <m:nor/>
                          </m:rPr>
                          <a:rPr lang="en-GB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1 </m:t>
                        </m:r>
                        <m:r>
                          <a:rPr lang="en-GB" sz="3500" i="1" noProof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–</m:t>
                        </m:r>
                        <m:r>
                          <m:rPr>
                            <m:nor/>
                          </m:rPr>
                          <a:rPr lang="en-GB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3500" b="0" i="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l-GR" sz="3500" noProof="0" dirty="0" smtClean="0">
                                <a:solidFill>
                                  <a:srgbClr val="333333"/>
                                </a:solidFill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3500" b="0" i="1" noProof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l-GR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(1</m:t>
                        </m:r>
                        <m:r>
                          <m:rPr>
                            <m:nor/>
                          </m:rPr>
                          <a:rPr lang="en-US" sz="3500" b="0" i="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3500" b="0" i="1" noProof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en-US" sz="3600" i="1" noProof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𝛾</m:t>
                        </m:r>
                        <m:r>
                          <m:rPr>
                            <m:nor/>
                          </m:rPr>
                          <a:rPr lang="el-GR" sz="3500" noProof="0" dirty="0" smtClean="0">
                            <a:solidFill>
                              <a:srgbClr val="33333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)</m:t>
                        </m:r>
                      </m:num>
                      <m:den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</m:den>
                    </m:f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3500" b="0" noProof="0" dirty="0">
                    <a:solidFill>
                      <a:srgbClr val="333333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𝛼</m:t>
                        </m:r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</m:e>
                      <m:sub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b>
                    </m:sSub>
                    <m:r>
                      <a:rPr lang="en-US" sz="3500" b="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+|</m:t>
                    </m:r>
                    <m:r>
                      <a:rPr lang="en-US" sz="3500" b="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𝑝𝑒𝑛</m:t>
                    </m:r>
                    <m:r>
                      <a:rPr lang="en-US" sz="3500" b="0" i="1" noProof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|</m:t>
                    </m:r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)) </a:t>
                </a:r>
              </a:p>
              <a:p>
                <a:pPr marL="514350" indent="-514350">
                  <a:lnSpc>
                    <a:spcPct val="125000"/>
                  </a:lnSpc>
                  <a:buAutoNum type="arabicPeriod"/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T.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e>
                      <m:sub>
                        <m:r>
                          <a:rPr lang="en-US" sz="3500" b="0" i="1" noProof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l-GR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α</a:t>
                </a:r>
                <a:r>
                  <a:rPr lang="en-US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≥</a:t>
                </a:r>
                <a:r>
                  <a:rPr lang="en-US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l-GR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2)</a:t>
                </a:r>
                <a:endParaRPr lang="en-US" sz="3500" noProof="0" dirty="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 E. 1: </a:t>
                </a:r>
                <a:r>
                  <a:rPr lang="en-GB" sz="3500" noProof="0" dirty="0" err="1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ChainMDP</a:t>
                </a: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verification. 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4. E.2: </a:t>
                </a: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Financial case study</a:t>
                </a:r>
                <a:b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GB" sz="3500" b="1" noProof="0" dirty="0">
                    <a:latin typeface="Arial Narrow" panose="020B0604020202020204" pitchFamily="34" charset="0"/>
                    <a:cs typeface="Arial Narrow" panose="020B0604020202020204" pitchFamily="34" charset="0"/>
                  </a:rPr>
                  <a:t>Takeaways: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Check: p via cross-validation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Use: if p ≥ p* → safe + faster  </a:t>
                </a:r>
              </a:p>
              <a:p>
                <a:pPr>
                  <a:lnSpc>
                    <a:spcPct val="125000"/>
                  </a:lnSpc>
                </a:pPr>
                <a:r>
                  <a:rPr lang="en-GB" sz="3500" noProof="0" dirty="0">
                    <a:solidFill>
                      <a:srgbClr val="33333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• Stop: if p &lt; p* → risk degradation</a:t>
                </a:r>
              </a:p>
            </p:txBody>
          </p:sp>
        </mc:Choice>
        <mc:Fallback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217E25D3-4617-42E4-1FF4-4323BBA2D3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768" y="7353446"/>
                <a:ext cx="13688411" cy="12144863"/>
              </a:xfrm>
              <a:prstGeom prst="rect">
                <a:avLst/>
              </a:prstGeom>
              <a:blipFill>
                <a:blip r:embed="rId3"/>
                <a:stretch>
                  <a:fillRect l="-1297" t="-209" b="-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8A3B86F4-FACF-A2B0-3EAE-97F94044842F}"/>
              </a:ext>
            </a:extLst>
          </p:cNvPr>
          <p:cNvSpPr txBox="1"/>
          <p:nvPr/>
        </p:nvSpPr>
        <p:spPr>
          <a:xfrm>
            <a:off x="1068918" y="21963650"/>
            <a:ext cx="39555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C3D3C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sz="4400" dirty="0"/>
              <a:t>Critical accuracy threshold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771272-C39E-E2E3-E125-67F08DB4E049}"/>
              </a:ext>
            </a:extLst>
          </p:cNvPr>
          <p:cNvSpPr txBox="1"/>
          <p:nvPr/>
        </p:nvSpPr>
        <p:spPr>
          <a:xfrm>
            <a:off x="10353150" y="21754078"/>
            <a:ext cx="39555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C3D3C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sz="4400" dirty="0"/>
              <a:t>Faster convergence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A48EDF-061C-D280-FD97-6D3AF5272B94}"/>
              </a:ext>
            </a:extLst>
          </p:cNvPr>
          <p:cNvSpPr txBox="1"/>
          <p:nvPr/>
        </p:nvSpPr>
        <p:spPr>
          <a:xfrm>
            <a:off x="5472736" y="22163390"/>
            <a:ext cx="44105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rgbClr val="3C3D3C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 sz="4400" dirty="0"/>
              <a:t>Shaping strength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42F4497-47A7-8260-EACF-A7DAC7A42379}"/>
              </a:ext>
            </a:extLst>
          </p:cNvPr>
          <p:cNvSpPr/>
          <p:nvPr/>
        </p:nvSpPr>
        <p:spPr>
          <a:xfrm>
            <a:off x="1116806" y="38204078"/>
            <a:ext cx="8912672" cy="95673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en-US" sz="5617" b="1">
                <a:solidFill>
                  <a:schemeClr val="tx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In collaboration with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6E86477-232F-FD0A-31C5-2C36E20898F6}"/>
              </a:ext>
            </a:extLst>
          </p:cNvPr>
          <p:cNvCxnSpPr>
            <a:cxnSpLocks/>
          </p:cNvCxnSpPr>
          <p:nvPr/>
        </p:nvCxnSpPr>
        <p:spPr>
          <a:xfrm>
            <a:off x="1174548" y="38040136"/>
            <a:ext cx="27828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58CA1-F7CF-6ACF-E138-5B6D8A75AB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t"/>
          <a:lstStyle/>
          <a:p>
            <a:r>
              <a:rPr lang="en-GB" dirty="0"/>
              <a:t>Aleksandr </a:t>
            </a:r>
            <a:r>
              <a:rPr lang="en-GB" dirty="0" err="1"/>
              <a:t>Koviazin</a:t>
            </a:r>
            <a:r>
              <a:rPr lang="en-GB" dirty="0"/>
              <a:t> </a:t>
            </a:r>
          </a:p>
          <a:p>
            <a:r>
              <a:rPr lang="en-GB" dirty="0"/>
              <a:t>Radu State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9101D6-099F-25B5-87B3-67EED8677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>
            <a:normAutofit fontScale="62500" lnSpcReduction="20000"/>
          </a:bodyPr>
          <a:lstStyle/>
          <a:p>
            <a:r>
              <a:rPr lang="en-US" dirty="0"/>
              <a:t>When Does LLM-Based Reward Shaping Preserve Optimal Policy?</a:t>
            </a:r>
          </a:p>
          <a:p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861BB9-7697-2896-0374-8F5D2B98D1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t"/>
          <a:lstStyle/>
          <a:p>
            <a:r>
              <a:rPr lang="en-US" dirty="0"/>
              <a:t>Services and Data Management (SEDAN)</a:t>
            </a:r>
            <a:endParaRPr lang="en-GB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C0910B-A0B6-105D-7C54-81E145F40F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422117"/>
              </p:ext>
            </p:extLst>
          </p:nvPr>
        </p:nvGraphicFramePr>
        <p:xfrm>
          <a:off x="1172618" y="41222288"/>
          <a:ext cx="19220379" cy="1328928"/>
        </p:xfrm>
        <a:graphic>
          <a:graphicData uri="http://schemas.openxmlformats.org/drawingml/2006/table">
            <a:tbl>
              <a:tblPr/>
              <a:tblGrid>
                <a:gridCol w="19220379">
                  <a:extLst>
                    <a:ext uri="{9D8B030D-6E8A-4147-A177-3AD203B41FA5}">
                      <a16:colId xmlns:a16="http://schemas.microsoft.com/office/drawing/2014/main" val="2409312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3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Supported by the Luxembourg National Research Fund (FNR) (</a:t>
                      </a:r>
                      <a:r>
                        <a:rPr lang="en-US" sz="4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https://</a:t>
                      </a:r>
                      <a:r>
                        <a:rPr lang="en-US" sz="44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github.com</a:t>
                      </a:r>
                      <a:r>
                        <a:rPr lang="en-US" sz="4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44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krastykovyaz</a:t>
                      </a:r>
                      <a:r>
                        <a:rPr lang="en-US" sz="44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44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llm_shaping_eval.git</a:t>
                      </a:r>
                      <a:r>
                        <a:rPr lang="en-GB" sz="432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0236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201F7EA-EE7D-E147-FB6E-0996091D1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12" y="39627854"/>
            <a:ext cx="7772400" cy="13023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20266C-3B81-6D62-4E6E-AB6CEE6547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853" y="31220263"/>
            <a:ext cx="12482167" cy="6959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4DD222-8E52-FCEE-05D7-DC555B0723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1455" y="32703395"/>
            <a:ext cx="6705600" cy="49276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264EE4B-3CAE-48A7-02D4-CC5B6ED969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200" y="32677995"/>
            <a:ext cx="6781800" cy="4953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282D994-CC76-E620-DBEC-9E18AF644D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5789" y="6436393"/>
            <a:ext cx="13276343" cy="1201750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7147D9-1851-F384-0F05-08368C74A0F5}"/>
                  </a:ext>
                </a:extLst>
              </p:cNvPr>
              <p:cNvSpPr txBox="1"/>
              <p:nvPr/>
            </p:nvSpPr>
            <p:spPr>
              <a:xfrm>
                <a:off x="7185400" y="27249114"/>
                <a:ext cx="15148560" cy="11700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noProof="0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4000" b="0" i="1" noProof="0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𝑝</m:t>
                          </m:r>
                        </m:e>
                        <m:sup>
                          <m:r>
                            <a:rPr lang="en-US" sz="4000" b="0" i="1" noProof="0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lang="en-US" sz="4000" b="0" i="1" noProof="0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:=</m:t>
                      </m:r>
                      <m:r>
                        <a:rPr lang="en-US" sz="4000" b="0" i="1" noProof="0" smtClean="0"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1 − </m:t>
                      </m:r>
                      <m:box>
                        <m:boxPr>
                          <m:ctrlPr>
                            <a:rPr lang="en-US" sz="4000" b="0" i="1" noProof="0" smtClean="0"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sz="4000" b="0" i="1" noProof="0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4000" b="0" i="1" noProof="0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el-GR" sz="4000" noProof="0" dirty="0" smtClean="0">
                                      <a:solidFill>
                                        <a:srgbClr val="333333"/>
                                      </a:solidFill>
                                      <a:latin typeface="Arial" panose="020B0604020202020204" pitchFamily="34" charset="0"/>
                                      <a:cs typeface="Arial" panose="020B0604020202020204" pitchFamily="34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4000" b="0" i="1" noProof="0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l-GR" sz="4000" noProof="0" dirty="0" smtClean="0">
                                  <a:solidFill>
                                    <a:srgbClr val="333333"/>
                                  </a:solidFill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(1−</m:t>
                              </m:r>
                              <m:r>
                                <a:rPr lang="en-US" sz="4000" i="1" noProof="0" dirty="0" smtClean="0">
                                  <a:solidFill>
                                    <a:srgbClr val="333333"/>
                                  </a:solidFill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𝛾</m:t>
                              </m:r>
                              <m:r>
                                <m:rPr>
                                  <m:nor/>
                                </m:rPr>
                                <a:rPr lang="el-GR" sz="4000" noProof="0" dirty="0" smtClean="0">
                                  <a:solidFill>
                                    <a:srgbClr val="333333"/>
                                  </a:solidFill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m:rPr>
                                  <m:nor/>
                                </m:rPr>
                                <a:rPr lang="en-GB" sz="4000" noProof="0" dirty="0" smtClean="0">
                                  <a:solidFill>
                                    <a:srgbClr val="333333"/>
                                  </a:solidFill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sz="4000" b="0" noProof="0" dirty="0" smtClean="0">
                                  <a:solidFill>
                                    <a:srgbClr val="333333"/>
                                  </a:solidFill>
                                  <a:cs typeface="Arial" panose="020B0604020202020204" pitchFamily="34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4000" b="0" i="1" noProof="0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000" b="0" i="1" noProof="0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𝛼</m:t>
                                  </m:r>
                                  <m:r>
                                    <a:rPr lang="en-US" sz="4000" b="0" i="1" noProof="0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4000" b="0" i="1" noProof="0" smtClean="0">
                                      <a:solidFill>
                                        <a:srgbClr val="33333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en-US" sz="4000" b="0" i="1" noProof="0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+|</m:t>
                              </m:r>
                              <m:r>
                                <a:rPr lang="en-US" sz="4000" b="0" i="1" noProof="0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𝑝𝑒𝑛</m:t>
                              </m:r>
                              <m:r>
                                <a:rPr lang="en-US" sz="4000" b="0" i="1" noProof="0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|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A7147D9-1851-F384-0F05-08368C74A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400" y="27249114"/>
                <a:ext cx="15148560" cy="1170064"/>
              </a:xfrm>
              <a:prstGeom prst="rect">
                <a:avLst/>
              </a:prstGeom>
              <a:blipFill>
                <a:blip r:embed="rId9"/>
                <a:stretch>
                  <a:fillRect t="-1075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155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24243F"/>
      </a:dk2>
      <a:lt2>
        <a:srgbClr val="F3D6D3"/>
      </a:lt2>
      <a:accent1>
        <a:srgbClr val="0C0A36"/>
      </a:accent1>
      <a:accent2>
        <a:srgbClr val="282C78"/>
      </a:accent2>
      <a:accent3>
        <a:srgbClr val="3F8DC0"/>
      </a:accent3>
      <a:accent4>
        <a:srgbClr val="4DC0E2"/>
      </a:accent4>
      <a:accent5>
        <a:srgbClr val="D92982"/>
      </a:accent5>
      <a:accent6>
        <a:srgbClr val="F7D5D7"/>
      </a:accent6>
      <a:hlink>
        <a:srgbClr val="282C78"/>
      </a:hlink>
      <a:folHlink>
        <a:srgbClr val="EE41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581F7E"/>
            </a:gs>
            <a:gs pos="77000">
              <a:srgbClr val="EF4923"/>
            </a:gs>
            <a:gs pos="95000">
              <a:srgbClr val="581F7E"/>
            </a:gs>
          </a:gsLst>
          <a:path path="shape">
            <a:fillToRect l="50000" t="50000" r="50000" b="50000"/>
          </a:path>
          <a:tileRect/>
        </a:gradFill>
        <a:ln w="39355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F675771A99854EB0F991FCDFBCB845" ma:contentTypeVersion="19" ma:contentTypeDescription="Create a new document." ma:contentTypeScope="" ma:versionID="db9dc105037c8da12037c5ada4453e74">
  <xsd:schema xmlns:xsd="http://www.w3.org/2001/XMLSchema" xmlns:xs="http://www.w3.org/2001/XMLSchema" xmlns:p="http://schemas.microsoft.com/office/2006/metadata/properties" xmlns:ns2="226060f8-0645-430c-8dbe-03f775eeb634" xmlns:ns3="8fcb3dfa-15a0-46b4-a34e-acb4002c09b5" targetNamespace="http://schemas.microsoft.com/office/2006/metadata/properties" ma:root="true" ma:fieldsID="bd1ebb22ff294bc7f84771eaa5be8dda" ns2:_="" ns3:_="">
    <xsd:import namespace="226060f8-0645-430c-8dbe-03f775eeb634"/>
    <xsd:import namespace="8fcb3dfa-15a0-46b4-a34e-acb4002c09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6060f8-0645-430c-8dbe-03f775eeb6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1350db3-1762-4bf1-805b-8e7c55ddee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cb3dfa-15a0-46b4-a34e-acb4002c09b5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cfb9ebf-79ad-4aab-9175-48a884b46ec8}" ma:internalName="TaxCatchAll" ma:showField="CatchAllData" ma:web="8fcb3dfa-15a0-46b4-a34e-acb4002c09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6060f8-0645-430c-8dbe-03f775eeb634">
      <Terms xmlns="http://schemas.microsoft.com/office/infopath/2007/PartnerControls"/>
    </lcf76f155ced4ddcb4097134ff3c332f>
    <TaxCatchAll xmlns="8fcb3dfa-15a0-46b4-a34e-acb4002c09b5" xsi:nil="true"/>
  </documentManagement>
</p:properties>
</file>

<file path=customXml/itemProps1.xml><?xml version="1.0" encoding="utf-8"?>
<ds:datastoreItem xmlns:ds="http://schemas.openxmlformats.org/officeDocument/2006/customXml" ds:itemID="{A932D7B0-A535-44BC-AF89-58271B69AE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42A57E6-CD18-4A96-AC1B-BB4BD1840E6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6060f8-0645-430c-8dbe-03f775eeb634"/>
    <ds:schemaRef ds:uri="8fcb3dfa-15a0-46b4-a34e-acb4002c09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BA377C-70BC-4554-B8D9-5892062AB8E4}">
  <ds:schemaRefs>
    <ds:schemaRef ds:uri="226060f8-0645-430c-8dbe-03f775eeb634"/>
    <ds:schemaRef ds:uri="8fcb3dfa-15a0-46b4-a34e-acb4002c09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</TotalTime>
  <Words>308</Words>
  <Application>Microsoft Macintosh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Arial Narrow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</dc:title>
  <dc:creator>Andreea-Alexandra PARASCHIV</dc:creator>
  <cp:lastModifiedBy>Aleksandr KOVIAZIN</cp:lastModifiedBy>
  <cp:revision>6</cp:revision>
  <cp:lastPrinted>2025-03-21T14:16:27Z</cp:lastPrinted>
  <dcterms:created xsi:type="dcterms:W3CDTF">2024-02-28T10:32:23Z</dcterms:created>
  <dcterms:modified xsi:type="dcterms:W3CDTF">2026-03-25T16:00:57Z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2024-02-26T00:00:00Z</vt:filetime>
  </property>
  <property fmtid="{D5CDD505-2E9C-101B-9397-08002B2CF9AE}" pid="3" name="Creator">
    <vt:lpwstr>Adobe Illustrator 28.0 (Windows)</vt:lpwstr>
  </property>
  <property fmtid="{D5CDD505-2E9C-101B-9397-08002B2CF9AE}" pid="4" name="LastSaved">
    <vt:filetime>2024-02-28T00:00:00Z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0x0101001FF675771A99854EB0F991FCDFBCB845</vt:lpwstr>
  </property>
  <property fmtid="{D5CDD505-2E9C-101B-9397-08002B2CF9AE}" pid="7" name="MediaServiceImageTags">
    <vt:lpwstr/>
  </property>
</Properties>
</file>